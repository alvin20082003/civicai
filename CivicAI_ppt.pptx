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45021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027"/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-2011680"/>
            <a:ext cx="6400800" cy="64008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00A896">
              <a:alpha val="20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9659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CivicAI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9718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Legal Document Simplification Assistant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6118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“Reads the fine print, so you don’t have to.”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6172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Sathyabama Institute of Science and Technology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signs things they don’t fully understand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3383280"/>
          </a:xfrm>
          <a:prstGeom prst="roundRect">
            <a:avLst>
              <a:gd name="adj" fmla="val 3243"/>
            </a:avLst>
          </a:prstGeom>
          <a:solidFill>
            <a:srgbClr val="F2F7F7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5740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0574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📄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8803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Dense Legal Language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47472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 agreements, loan contracts and offer letters are written for lawyers, not citizens.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737360"/>
            <a:ext cx="3566160" cy="3383280"/>
          </a:xfrm>
          <a:prstGeom prst="roundRect">
            <a:avLst>
              <a:gd name="adj" fmla="val 3243"/>
            </a:avLst>
          </a:prstGeom>
          <a:solidFill>
            <a:srgbClr val="F2F7F7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205740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20574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⏳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8803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Slow, Costly Legal Help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47472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review is expensive and slow — most people just sign blindly.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1737360"/>
            <a:ext cx="3566160" cy="3383280"/>
          </a:xfrm>
          <a:prstGeom prst="roundRect">
            <a:avLst>
              <a:gd name="adj" fmla="val 3243"/>
            </a:avLst>
          </a:prstGeom>
          <a:solidFill>
            <a:srgbClr val="F2F7F7"/>
          </a:solidFill>
          <a:ln/>
        </p:spPr>
      </p:sp>
      <p:sp>
        <p:nvSpPr>
          <p:cNvPr id="15" name="Shape 13"/>
          <p:cNvSpPr/>
          <p:nvPr/>
        </p:nvSpPr>
        <p:spPr>
          <a:xfrm>
            <a:off x="8458200" y="205740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58200" y="20574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⚠️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8458200" y="28803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Hidden Risk &amp; Deadlines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458200" y="347472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Unfair clauses, penalty terms and missed deadlines cause real financial harm.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486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literacy is low relative to the sheer volume of agreements people sign every day.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6400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CivicAI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94560"/>
            <a:ext cx="3383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6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assistant that reads any legal or government document and rewrites it in plain, everyday language — what you’re agreeing to, what you must do, and what risks you carry.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709160" y="86868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709160" y="868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40680" y="8229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440680" y="118872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9D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PDF, image or scan of any document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709160" y="210312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0916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40680" y="20574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5440680" y="242316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9D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plain-language summary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709160" y="333756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70916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440680" y="32918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 Down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5440680" y="36576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9D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Clauses tagged: Obligation / Risk / Deadline / Right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709160" y="457200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709160" y="4572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440680" y="45262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5440680" y="48920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9D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with the document — answers grounded in the actual text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It’s For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349240" cy="2240280"/>
          </a:xfrm>
          <a:prstGeom prst="roundRect">
            <a:avLst>
              <a:gd name="adj" fmla="val 4082"/>
            </a:avLst>
          </a:prstGeom>
          <a:solidFill>
            <a:srgbClr val="F2F7F7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508760"/>
            <a:ext cx="594360" cy="5943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508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🎓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49047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Students &amp; First-Time Renters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945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Pain: </a:t>
            </a:r>
            <a:r>
              <a:rPr lang="en-US" sz="11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hostel/rental agreements blindly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974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Gets: </a:t>
            </a:r>
            <a:r>
              <a:rPr lang="en-US" sz="11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summary + risky-clause flags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1234440"/>
            <a:ext cx="5349240" cy="2240280"/>
          </a:xfrm>
          <a:prstGeom prst="roundRect">
            <a:avLst>
              <a:gd name="adj" fmla="val 4082"/>
            </a:avLst>
          </a:prstGeom>
          <a:solidFill>
            <a:srgbClr val="F2F7F7"/>
          </a:solidFill>
          <a:ln/>
        </p:spPr>
      </p:sp>
      <p:sp>
        <p:nvSpPr>
          <p:cNvPr id="10" name="Shape 8"/>
          <p:cNvSpPr/>
          <p:nvPr/>
        </p:nvSpPr>
        <p:spPr>
          <a:xfrm>
            <a:off x="6446520" y="1508760"/>
            <a:ext cx="594360" cy="5943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46520" y="1508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💼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149047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Business Owners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21945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Pain: </a:t>
            </a:r>
            <a:r>
              <a:rPr lang="en-US" sz="11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Can’t afford a lawyer for every vendor contract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26974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Gets: </a:t>
            </a:r>
            <a:r>
              <a:rPr lang="en-US" sz="11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obligation + risk breakdown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749040"/>
            <a:ext cx="5349240" cy="2240280"/>
          </a:xfrm>
          <a:prstGeom prst="roundRect">
            <a:avLst>
              <a:gd name="adj" fmla="val 4082"/>
            </a:avLst>
          </a:prstGeom>
          <a:solidFill>
            <a:srgbClr val="F2F7F7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4023360"/>
            <a:ext cx="594360" cy="5943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4023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400507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Citizens &amp; Senior Citizens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7091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Pain: </a:t>
            </a:r>
            <a:r>
              <a:rPr lang="en-US" sz="11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Confusing government circulars/notices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52120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Gets: </a:t>
            </a:r>
            <a:r>
              <a:rPr lang="en-US" sz="11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explanation of what to do next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172200" y="3749040"/>
            <a:ext cx="5349240" cy="2240280"/>
          </a:xfrm>
          <a:prstGeom prst="roundRect">
            <a:avLst>
              <a:gd name="adj" fmla="val 4082"/>
            </a:avLst>
          </a:prstGeom>
          <a:solidFill>
            <a:srgbClr val="F2F7F7"/>
          </a:solidFill>
          <a:ln/>
        </p:spPr>
      </p:sp>
      <p:sp>
        <p:nvSpPr>
          <p:cNvPr id="22" name="Shape 20"/>
          <p:cNvSpPr/>
          <p:nvPr/>
        </p:nvSpPr>
        <p:spPr>
          <a:xfrm>
            <a:off x="6446520" y="4023360"/>
            <a:ext cx="594360" cy="5943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46520" y="4023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💳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7178040" y="400507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Loan / Insurance Customers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446520" y="47091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Pain: </a:t>
            </a:r>
            <a:r>
              <a:rPr lang="en-US" sz="11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 hidden penalty or exclusion clauses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446520" y="52120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Gets: </a:t>
            </a:r>
            <a:r>
              <a:rPr lang="en-US" sz="11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 categorisation with plain tags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What’s Built — Live Demo Features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working prototype, ready to demo today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1691640"/>
          </a:xfrm>
          <a:prstGeom prst="roundRect">
            <a:avLst>
              <a:gd name="adj" fmla="val 5405"/>
            </a:avLst>
          </a:prstGeom>
          <a:solidFill>
            <a:srgbClr val="F2F7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📤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1343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 Any Document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7919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or image/scan of a legal or government document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43400" y="1600200"/>
            <a:ext cx="3566160" cy="1691640"/>
          </a:xfrm>
          <a:prstGeom prst="roundRect">
            <a:avLst>
              <a:gd name="adj" fmla="val 5405"/>
            </a:avLst>
          </a:prstGeom>
          <a:solidFill>
            <a:srgbClr val="F2F7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31343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OCR + Text Extraction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67919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Auto-detects document type: rental, loan, employment, notice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38160" y="1600200"/>
            <a:ext cx="3566160" cy="1691640"/>
          </a:xfrm>
          <a:prstGeom prst="roundRect">
            <a:avLst>
              <a:gd name="adj" fmla="val 5405"/>
            </a:avLst>
          </a:prstGeom>
          <a:solidFill>
            <a:srgbClr val="F2F7F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36676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✍️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231343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Plain-Language Summary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8366760" y="267919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Jargon-free overview generated in seconds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474720"/>
            <a:ext cx="3566160" cy="1691640"/>
          </a:xfrm>
          <a:prstGeom prst="roundRect">
            <a:avLst>
              <a:gd name="adj" fmla="val 5405"/>
            </a:avLst>
          </a:prstGeom>
          <a:solidFill>
            <a:srgbClr val="F2F7F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🏷️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18795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Clause Tagging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55371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Obligation / Right / Penalty / Deadline / Risk categories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43400" y="3474720"/>
            <a:ext cx="3566160" cy="1691640"/>
          </a:xfrm>
          <a:prstGeom prst="roundRect">
            <a:avLst>
              <a:gd name="adj" fmla="val 5405"/>
            </a:avLst>
          </a:prstGeom>
          <a:solidFill>
            <a:srgbClr val="F2F7F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57200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💬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0" y="418795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 With the Document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0" y="455371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‘Can my landlord keep my deposit?’ and get a grounded answer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138160" y="3474720"/>
            <a:ext cx="3566160" cy="1691640"/>
          </a:xfrm>
          <a:prstGeom prst="roundRect">
            <a:avLst>
              <a:gd name="adj" fmla="val 5405"/>
            </a:avLst>
          </a:prstGeom>
          <a:solidFill>
            <a:srgbClr val="F2F7F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36676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8366760" y="418795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Visible Disclaimer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8366760" y="455371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shown: not a substitute for a licensed lawyer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Architecture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left-to-right pipeline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572768" cy="3017520"/>
          </a:xfrm>
          <a:prstGeom prst="roundRect">
            <a:avLst>
              <a:gd name="adj" fmla="val 4651"/>
            </a:avLst>
          </a:prstGeom>
          <a:solidFill>
            <a:srgbClr val="12343B"/>
          </a:solidFill>
          <a:ln/>
        </p:spPr>
      </p:sp>
      <p:sp>
        <p:nvSpPr>
          <p:cNvPr id="5" name="Shape 3"/>
          <p:cNvSpPr/>
          <p:nvPr/>
        </p:nvSpPr>
        <p:spPr>
          <a:xfrm>
            <a:off x="1014984" y="182880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14984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57784" y="25146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Ingestion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57784" y="29718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PDF/image upload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57784" y="37947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7F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pypdf, Tesseract OCR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2075688" y="283464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2C39A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276856" y="1600200"/>
            <a:ext cx="1572768" cy="3017520"/>
          </a:xfrm>
          <a:prstGeom prst="roundRect">
            <a:avLst>
              <a:gd name="adj" fmla="val 4651"/>
            </a:avLst>
          </a:prstGeom>
          <a:solidFill>
            <a:srgbClr val="12343B"/>
          </a:solidFill>
          <a:ln/>
        </p:spPr>
      </p:sp>
      <p:sp>
        <p:nvSpPr>
          <p:cNvPr id="12" name="Shape 10"/>
          <p:cNvSpPr/>
          <p:nvPr/>
        </p:nvSpPr>
        <p:spPr>
          <a:xfrm>
            <a:off x="2788920" y="182880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78892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331720" y="25146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Structuring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29718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split clauses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2331720" y="37947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7F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Regex, layout parsing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3849624" y="283464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2C39A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050792" y="1600200"/>
            <a:ext cx="1572768" cy="3017520"/>
          </a:xfrm>
          <a:prstGeom prst="roundRect">
            <a:avLst>
              <a:gd name="adj" fmla="val 4651"/>
            </a:avLst>
          </a:prstGeom>
          <a:solidFill>
            <a:srgbClr val="12343B"/>
          </a:solidFill>
          <a:ln/>
        </p:spPr>
      </p:sp>
      <p:sp>
        <p:nvSpPr>
          <p:cNvPr id="19" name="Shape 17"/>
          <p:cNvSpPr/>
          <p:nvPr/>
        </p:nvSpPr>
        <p:spPr>
          <a:xfrm>
            <a:off x="4562856" y="182880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562856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4105656" y="25146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105656" y="29718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Obligation/Risk/etc.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4105656" y="37947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7F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prompt tagging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5623560" y="283464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2C39A"/>
                </a:solidFill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824728" y="1600200"/>
            <a:ext cx="1572768" cy="3017520"/>
          </a:xfrm>
          <a:prstGeom prst="roundRect">
            <a:avLst>
              <a:gd name="adj" fmla="val 4651"/>
            </a:avLst>
          </a:prstGeom>
          <a:solidFill>
            <a:srgbClr val="12343B"/>
          </a:solidFill>
          <a:ln/>
        </p:spPr>
      </p:sp>
      <p:sp>
        <p:nvSpPr>
          <p:cNvPr id="26" name="Shape 24"/>
          <p:cNvSpPr/>
          <p:nvPr/>
        </p:nvSpPr>
        <p:spPr>
          <a:xfrm>
            <a:off x="6336792" y="182880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336792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5879592" y="25146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Summarization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879592" y="29718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output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5879592" y="37947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7F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/ LLM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7397496" y="283464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2C39A"/>
                </a:solidFill>
              </a:rPr>
              <a:t>→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598664" y="1600200"/>
            <a:ext cx="1572768" cy="3017520"/>
          </a:xfrm>
          <a:prstGeom prst="roundRect">
            <a:avLst>
              <a:gd name="adj" fmla="val 4651"/>
            </a:avLst>
          </a:prstGeom>
          <a:solidFill>
            <a:srgbClr val="12343B"/>
          </a:solidFill>
          <a:ln/>
        </p:spPr>
      </p:sp>
      <p:sp>
        <p:nvSpPr>
          <p:cNvPr id="33" name="Shape 31"/>
          <p:cNvSpPr/>
          <p:nvPr/>
        </p:nvSpPr>
        <p:spPr>
          <a:xfrm>
            <a:off x="8110728" y="182880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110728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7653528" y="25146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Grounding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7653528" y="29718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cite real clauses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7653528" y="37947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7F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 + embeddings</a:t>
            </a:r>
            <a:endParaRPr lang="en-US" sz="800" dirty="0"/>
          </a:p>
        </p:txBody>
      </p:sp>
      <p:sp>
        <p:nvSpPr>
          <p:cNvPr id="38" name="Text 36"/>
          <p:cNvSpPr txBox="1"/>
          <p:nvPr/>
        </p:nvSpPr>
        <p:spPr>
          <a:xfrm>
            <a:off x="9171432" y="283464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2C39A"/>
                </a:solidFill>
              </a:rPr>
              <a:t>→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9372600" y="1600200"/>
            <a:ext cx="1572768" cy="3017520"/>
          </a:xfrm>
          <a:prstGeom prst="roundRect">
            <a:avLst>
              <a:gd name="adj" fmla="val 4651"/>
            </a:avLst>
          </a:prstGeom>
          <a:solidFill>
            <a:srgbClr val="12343B"/>
          </a:solidFill>
          <a:ln/>
        </p:spPr>
      </p:sp>
      <p:sp>
        <p:nvSpPr>
          <p:cNvPr id="40" name="Shape 38"/>
          <p:cNvSpPr/>
          <p:nvPr/>
        </p:nvSpPr>
        <p:spPr>
          <a:xfrm>
            <a:off x="9884664" y="182880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9884664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9427464" y="25146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9427464" y="29718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dashboard UI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9427464" y="37947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7F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</a:t>
            </a:r>
            <a:endParaRPr lang="en-US" sz="80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50292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RAG matters: answers are retrieved from the user’s own uploaded document — never invented. This is the strongest defense against hallucinated legal advice.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548640" y="58064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9D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 React · Node/Python backend – or MERN/MEAN – LLM API (Claude) · Vector DB · Tesseract OCR · GitHub for version control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Staged Product Roadmap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is the hackathon build — Stages 2–6 are the vision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76479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2651760" y="1828800"/>
            <a:ext cx="1280160" cy="320040"/>
          </a:xfrm>
          <a:prstGeom prst="rect">
            <a:avLst/>
          </a:prstGeom>
          <a:solidFill>
            <a:srgbClr val="02C39A"/>
          </a:solidFill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1343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Document Explainer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8346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→ summary → clause tags → chat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160020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F2F7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0" y="176479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31343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&amp; Red-Flag Detection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8346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 unusual, one-sided clauses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38160" y="160020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F2F7F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366760" y="176479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8366760" y="231343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Obligation &amp; Deadline Tracker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8366760" y="28346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dashboard + reminders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97764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F2F7F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414223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69087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Source-Grounded RAG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52120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cites exact clause/page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43400" y="397764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F2F7F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572000" y="414223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0" y="469087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Multi-Language &amp; Voice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0" y="52120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Tamil, Hindi + voice accessibility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138160" y="397764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F2F7F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366760" y="414223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8366760" y="469087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Vault &amp; Comparison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8366760" y="52120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compare + NGO/API integration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Stands Out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600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52704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problem, narrow demo — relatable to every judge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377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30428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Trust-first design: source-grounded RAG kills hallucination risk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154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308152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naturally to civic-tech: govt circulars, scheme eligibility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931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8587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monetisation: B2C freemium, B2B for SMEs, B2G for legal-aid NGOs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92240" y="1600200"/>
            <a:ext cx="4846320" cy="1234440"/>
          </a:xfrm>
          <a:prstGeom prst="roundRect">
            <a:avLst>
              <a:gd name="adj" fmla="val 7407"/>
            </a:avLst>
          </a:prstGeom>
          <a:solidFill>
            <a:srgbClr val="0B202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766560" y="1709928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45→&lt;3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8823960" y="1709928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reading time per document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92240" y="3063240"/>
            <a:ext cx="4846320" cy="1234440"/>
          </a:xfrm>
          <a:prstGeom prst="roundRect">
            <a:avLst>
              <a:gd name="adj" fmla="val 7407"/>
            </a:avLst>
          </a:prstGeom>
          <a:solidFill>
            <a:srgbClr val="0B202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766560" y="3172968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90%+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8823960" y="3172968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clause categorisation accuracy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92240" y="4526280"/>
            <a:ext cx="4846320" cy="1234440"/>
          </a:xfrm>
          <a:prstGeom prst="roundRect">
            <a:avLst>
              <a:gd name="adj" fmla="val 7407"/>
            </a:avLst>
          </a:prstGeom>
          <a:solidFill>
            <a:srgbClr val="0B202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766560" y="4636008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₹1.5K–₹5K</a:t>
            </a:r>
            <a:endParaRPr lang="en-US" sz="3000" dirty="0"/>
          </a:p>
        </p:txBody>
      </p:sp>
      <p:sp>
        <p:nvSpPr>
          <p:cNvPr id="23" name="Text 21"/>
          <p:cNvSpPr txBox="1"/>
          <p:nvPr/>
        </p:nvSpPr>
        <p:spPr>
          <a:xfrm>
            <a:off x="8823960" y="4636008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consultation cost avoided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492240" y="5989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Illustrative/target benchmarks — state clearly which are measured vs. projected.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Submission Snapshot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Flux Club — Solo Project Challenge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874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8745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Title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749040" y="18745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CivicAI — AI-Powered Legal Document Simplification Assistant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587752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02809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5877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258775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749040" y="258775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React, Node/Python, LLM API (Claude), Vector DB, Tesseract OCR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300984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30098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300984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Repository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749040" y="3300984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[link to be added]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014216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02809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0142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4014216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 Link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749040" y="4014216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[link to be added, if available]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727448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02809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47274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472744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Screenshots / Demo Video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3749040" y="472744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[attach before submission]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63880" y="56235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2343B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5" name="Text 23"/>
          <p:cNvSpPr txBox="1"/>
          <p:nvPr/>
        </p:nvSpPr>
        <p:spPr>
          <a:xfrm>
            <a:off x="1126206" y="5440680"/>
            <a:ext cx="101451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Our Website: https://civicai.online/dashboard</a:t>
            </a:r>
            <a:endParaRPr lang="en-US" sz="3600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6400800" cy="64008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2860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CivicAI reads the fine print,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9260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you don’t have to.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feedback and mentorship welcome.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774</Words>
  <Application>Microsoft Office PowerPoint</Application>
  <PresentationFormat>Widescreen</PresentationFormat>
  <Paragraphs>169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Alvin Sudhan</cp:lastModifiedBy>
  <cp:revision>2</cp:revision>
  <dcterms:created xsi:type="dcterms:W3CDTF">2026-08-30T11:37:45Z</dcterms:created>
  <dcterms:modified xsi:type="dcterms:W3CDTF">2026-08-30T11:44:28Z</dcterms:modified>
</cp:coreProperties>
</file>